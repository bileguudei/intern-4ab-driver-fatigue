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9"/>
  </p:normalViewPr>
  <p:slideViewPr>
    <p:cSldViewPr snapToGrid="0">
      <p:cViewPr varScale="1">
        <p:scale>
          <a:sx n="99" d="100"/>
          <a:sy n="99" d="100"/>
        </p:scale>
        <p:origin x="19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 visual created with OpenAI image generation. It is an illustrative, non-documentary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Background: NHTSA notes drowsy driving can impair performance and is especially associated with nighttime and rural-road driving. Source: https://www.nhtsa.gov/risky-driving/drowsy-driving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System design based on the project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 reflects project design. RAG safety constraint is a design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Based on the FatigueGuard UI imported into the Expo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Implementation status verified from the target Expo project source on 2026-09-17.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Thresholds are proposed prototype parameters, not validated medical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roadmap and presentation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l="27" r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57EBD8-D34C-4274-B56A-167EB4BB94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95325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B6983-C4EF-4A27-A26A-BCDE221993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CBCF1A-0A50-47C6-8419-45833E9B7D69}"/>
              </a:ext>
            </a:extLst>
          </p:cNvPr>
          <p:cNvSpPr>
            <a:spLocks noGrp="1"/>
          </p:cNvSpPr>
          <p:nvPr/>
        </p:nvSpPr>
        <p:spPr>
          <a:xfrm>
            <a:off x="762000" y="1066800"/>
            <a:ext cx="514350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917"/>
          </a:bodyPr>
          <a:lstStyle/>
          <a:p>
            <a:pPr>
              <a:defRPr sz="48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dirty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FATIGUE</a:t>
            </a:r>
          </a:p>
          <a:p>
            <a:pPr>
              <a:defRPr sz="48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dirty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GUARD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BFE7A4-4C67-488A-A7B6-62387B239512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476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770"/>
          </a:bodyPr>
          <a:lstStyle/>
          <a:p>
            <a:pPr>
              <a:defRPr sz="1875" b="0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Жолоочийн ядаргаа илрүүлэх ухаалаг систем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433348-9D7C-4CA8-90F6-6956A3F778B0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4000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Computer Vision + RAG + Mobile 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D5ECCE-3A0C-4E98-9E29-213CBE43104C}"/>
              </a:ext>
            </a:extLst>
          </p:cNvPr>
          <p:cNvSpPr>
            <a:spLocks noGrp="1"/>
          </p:cNvSpPr>
          <p:nvPr/>
        </p:nvSpPr>
        <p:spPr>
          <a:xfrm>
            <a:off x="800100" y="4476750"/>
            <a:ext cx="2667000" cy="19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2C60C1-800C-4EB2-80E6-9DABE6AA7753}"/>
              </a:ext>
            </a:extLst>
          </p:cNvPr>
          <p:cNvSpPr>
            <a:spLocks noGrp="1"/>
          </p:cNvSpPr>
          <p:nvPr/>
        </p:nvSpPr>
        <p:spPr>
          <a:xfrm>
            <a:off x="800100" y="4705350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111"/>
          </a:bodyPr>
          <a:lstStyle/>
          <a:p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Багийн төслийн танилцуулга</a:t>
            </a:r>
          </a:p>
        </p:txBody>
      </p:sp>
    </p:spTree>
    <p:extLst>
      <p:ext uri="{BB962C8B-B14F-4D97-AF65-F5344CB8AC3E}">
        <p14:creationId xmlns:p14="http://schemas.microsoft.com/office/powerpoint/2010/main" val="1492928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962601E-7A24-4A97-BF12-37EC54DFBCBC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Асуудал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D8FD92-B0A3-402A-A779-0ABF917A62A9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800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Урт зам, шөнийн жолоодлого болон өвлийн нөхцөл ядаргааны эрсдэлийг нэмэгдүүлдэг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F9D520-CF80-4131-A1D9-F2F167065BF1}"/>
              </a:ext>
            </a:extLst>
          </p:cNvPr>
          <p:cNvSpPr>
            <a:spLocks noGrp="1"/>
          </p:cNvSpPr>
          <p:nvPr/>
        </p:nvSpPr>
        <p:spPr>
          <a:xfrm>
            <a:off x="10144125" y="5143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FATIGUEGUARD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79DD79-5E57-4F19-8DC6-06297D09017B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7715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094"/>
          </a:bodyPr>
          <a:lstStyle/>
          <a:p>
            <a:pPr>
              <a:defRPr sz="18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Ядарсан жолоочийн анхаарал, хариу үйлдэл, шийдвэр гаргалт сулардаг.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87C498-D0D7-4BA3-840B-ADB8E52409F0}"/>
              </a:ext>
            </a:extLst>
          </p:cNvPr>
          <p:cNvSpPr>
            <a:spLocks noGrp="1"/>
          </p:cNvSpPr>
          <p:nvPr/>
        </p:nvSpPr>
        <p:spPr>
          <a:xfrm>
            <a:off x="666750" y="2524125"/>
            <a:ext cx="3143250" cy="1905000"/>
          </a:xfrm>
          <a:prstGeom prst="roundRect">
            <a:avLst>
              <a:gd name="adj" fmla="val 4000"/>
            </a:avLst>
          </a:prstGeom>
          <a:solidFill>
            <a:srgbClr val="0E1C31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759D03A-500D-42F0-A9E6-D695F80CEEE5}"/>
              </a:ext>
            </a:extLst>
          </p:cNvPr>
          <p:cNvSpPr>
            <a:spLocks noGrp="1"/>
          </p:cNvSpPr>
          <p:nvPr/>
        </p:nvSpPr>
        <p:spPr>
          <a:xfrm>
            <a:off x="838200" y="2714625"/>
            <a:ext cx="47625" cy="1524000"/>
          </a:xfrm>
          <a:prstGeom prst="roundRect">
            <a:avLst>
              <a:gd name="adj" fmla="val 50000"/>
            </a:avLst>
          </a:prstGeom>
          <a:solidFill>
            <a:srgbClr val="66D9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DD66AE-DE91-4129-86D0-6F2D8B402D91}"/>
              </a:ext>
            </a:extLst>
          </p:cNvPr>
          <p:cNvSpPr>
            <a:spLocks noGrp="1"/>
          </p:cNvSpPr>
          <p:nvPr/>
        </p:nvSpPr>
        <p:spPr>
          <a:xfrm>
            <a:off x="1066800" y="2743200"/>
            <a:ext cx="2571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>
              <a:def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Нүд анилт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474B60-BA45-4185-9361-CA917A7F1E3B}"/>
              </a:ext>
            </a:extLst>
          </p:cNvPr>
          <p:cNvSpPr>
            <a:spLocks noGrp="1"/>
          </p:cNvSpPr>
          <p:nvPr/>
        </p:nvSpPr>
        <p:spPr>
          <a:xfrm>
            <a:off x="1066800" y="3124200"/>
            <a:ext cx="252412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Нүд удаан хаагдах болон PERCLOS өсөх нь нойрмоглолын дохио болно.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CAD39A-97C5-4079-A658-62665FFCFF0F}"/>
              </a:ext>
            </a:extLst>
          </p:cNvPr>
          <p:cNvSpPr>
            <a:spLocks noGrp="1"/>
          </p:cNvSpPr>
          <p:nvPr/>
        </p:nvSpPr>
        <p:spPr>
          <a:xfrm>
            <a:off x="4238625" y="2524125"/>
            <a:ext cx="3143250" cy="1905000"/>
          </a:xfrm>
          <a:prstGeom prst="roundRect">
            <a:avLst>
              <a:gd name="adj" fmla="val 4000"/>
            </a:avLst>
          </a:prstGeom>
          <a:solidFill>
            <a:srgbClr val="0E1C31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45D30CA-EBB7-4F2C-B116-DE154C7F8AFB}"/>
              </a:ext>
            </a:extLst>
          </p:cNvPr>
          <p:cNvSpPr>
            <a:spLocks noGrp="1"/>
          </p:cNvSpPr>
          <p:nvPr/>
        </p:nvSpPr>
        <p:spPr>
          <a:xfrm>
            <a:off x="4410075" y="2714625"/>
            <a:ext cx="47625" cy="1524000"/>
          </a:xfrm>
          <a:prstGeom prst="roundRect">
            <a:avLst>
              <a:gd name="adj" fmla="val 50000"/>
            </a:avLst>
          </a:prstGeom>
          <a:solidFill>
            <a:srgbClr val="F5B84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564A78-D243-4CB1-B04F-179498EE40D5}"/>
              </a:ext>
            </a:extLst>
          </p:cNvPr>
          <p:cNvSpPr>
            <a:spLocks noGrp="1"/>
          </p:cNvSpPr>
          <p:nvPr/>
        </p:nvSpPr>
        <p:spPr>
          <a:xfrm>
            <a:off x="4638675" y="2743200"/>
            <a:ext cx="2571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 lnSpcReduction="10000"/>
          </a:bodyPr>
          <a:lstStyle/>
          <a:p>
            <a:pPr>
              <a:def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dirty="0" err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Толгой</a:t>
            </a:r>
            <a:r>
              <a:rPr sz="1425" b="1" dirty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25" b="1" dirty="0" err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дохих</a:t>
            </a:r>
            <a:r>
              <a:rPr lang="mn-MN" sz="1425" b="1" dirty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, гэлжийх</a:t>
            </a:r>
            <a:endParaRPr sz="1425" b="1" dirty="0">
              <a:solidFill>
                <a:srgbClr val="F5F8FC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982A31-88AF-4C01-A1F1-08FFF3B9A24A}"/>
              </a:ext>
            </a:extLst>
          </p:cNvPr>
          <p:cNvSpPr>
            <a:spLocks noGrp="1"/>
          </p:cNvSpPr>
          <p:nvPr/>
        </p:nvSpPr>
        <p:spPr>
          <a:xfrm>
            <a:off x="4638675" y="3124200"/>
            <a:ext cx="252412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dirty="0" err="1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Толгой</a:t>
            </a:r>
            <a:r>
              <a:rPr sz="1125" b="0" dirty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125" b="0" dirty="0" err="1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давтамжтай</a:t>
            </a:r>
            <a:r>
              <a:rPr sz="1125" b="0" dirty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125" b="0" dirty="0" err="1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доошлох</a:t>
            </a:r>
            <a:r>
              <a:rPr lang="mn-MN" sz="1125" b="0" dirty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, гэлжийх</a:t>
            </a:r>
            <a:r>
              <a:rPr sz="1125" b="0" dirty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125" b="0" dirty="0" err="1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нь</a:t>
            </a:r>
            <a:r>
              <a:rPr sz="1125" b="0" dirty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125" b="0" dirty="0" err="1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анхаарал</a:t>
            </a:r>
            <a:r>
              <a:rPr sz="1125" b="0" dirty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125" b="0" dirty="0" err="1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суларч</a:t>
            </a:r>
            <a:r>
              <a:rPr sz="1125" b="0" dirty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125" b="0" dirty="0" err="1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байгааг</a:t>
            </a:r>
            <a:r>
              <a:rPr sz="1125" b="0" dirty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125" b="0" dirty="0" err="1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илтгэнэ</a:t>
            </a:r>
            <a:r>
              <a:rPr sz="1125" b="0" dirty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826BB39-C799-4D34-9F6A-DAF1A620C775}"/>
              </a:ext>
            </a:extLst>
          </p:cNvPr>
          <p:cNvSpPr>
            <a:spLocks noGrp="1"/>
          </p:cNvSpPr>
          <p:nvPr/>
        </p:nvSpPr>
        <p:spPr>
          <a:xfrm>
            <a:off x="7810500" y="2524125"/>
            <a:ext cx="3143250" cy="1905000"/>
          </a:xfrm>
          <a:prstGeom prst="roundRect">
            <a:avLst>
              <a:gd name="adj" fmla="val 4000"/>
            </a:avLst>
          </a:prstGeom>
          <a:solidFill>
            <a:srgbClr val="0E1C31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86834F6-EE21-4970-91ED-C29E7526426D}"/>
              </a:ext>
            </a:extLst>
          </p:cNvPr>
          <p:cNvSpPr>
            <a:spLocks noGrp="1"/>
          </p:cNvSpPr>
          <p:nvPr/>
        </p:nvSpPr>
        <p:spPr>
          <a:xfrm>
            <a:off x="7981950" y="2714625"/>
            <a:ext cx="47625" cy="1524000"/>
          </a:xfrm>
          <a:prstGeom prst="roundRect">
            <a:avLst>
              <a:gd name="adj" fmla="val 50000"/>
            </a:avLst>
          </a:prstGeom>
          <a:solidFill>
            <a:srgbClr val="FB6B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76EA08-8717-4483-A571-027B2A5B0E63}"/>
              </a:ext>
            </a:extLst>
          </p:cNvPr>
          <p:cNvSpPr>
            <a:spLocks noGrp="1"/>
          </p:cNvSpPr>
          <p:nvPr/>
        </p:nvSpPr>
        <p:spPr>
          <a:xfrm>
            <a:off x="8210550" y="2743200"/>
            <a:ext cx="2571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>
              <a:def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Оройн цаг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F8D5AE-4B02-4EC6-9ECB-C888EAD26111}"/>
              </a:ext>
            </a:extLst>
          </p:cNvPr>
          <p:cNvSpPr>
            <a:spLocks noGrp="1"/>
          </p:cNvSpPr>
          <p:nvPr/>
        </p:nvSpPr>
        <p:spPr>
          <a:xfrm>
            <a:off x="8210550" y="3124200"/>
            <a:ext cx="252412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Шөнийн урт замд жолооч ганцаараа, нэг хэвийн нөхцөлд удаан явдаг.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FCC56B-6676-4A50-A0D0-92584CAD28F2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9810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366"/>
          </a:bodyPr>
          <a:lstStyle/>
          <a:p>
            <a:pPr>
              <a:defRPr sz="1650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Зорилго: эрсдэлийн эхний шинжийг бодит цагт илрүүлж, аюулгүй зогсоож амрах шийдвэрт туслах.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2AA1CC-8200-498D-83EF-2BC2B0864006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2941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B4009E-D3C2-4886-8D5A-041106DDF090}"/>
              </a:ext>
            </a:extLst>
          </p:cNvPr>
          <p:cNvSpPr>
            <a:spLocks noGrp="1"/>
          </p:cNvSpPr>
          <p:nvPr/>
        </p:nvSpPr>
        <p:spPr>
          <a:xfrm>
            <a:off x="666750" y="6543675"/>
            <a:ext cx="4286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CCBAD8-6CFC-4A73-B6E5-B779CBD178D9}"/>
              </a:ext>
            </a:extLst>
          </p:cNvPr>
          <p:cNvSpPr>
            <a:spLocks noGrp="1"/>
          </p:cNvSpPr>
          <p:nvPr/>
        </p:nvSpPr>
        <p:spPr>
          <a:xfrm>
            <a:off x="8858250" y="6543675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Driver fatigue detection project</a:t>
            </a:r>
          </a:p>
        </p:txBody>
      </p:sp>
    </p:spTree>
    <p:extLst>
      <p:ext uri="{BB962C8B-B14F-4D97-AF65-F5344CB8AC3E}">
        <p14:creationId xmlns:p14="http://schemas.microsoft.com/office/powerpoint/2010/main" val="669724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E5C8DFC-0C3E-42E3-94E8-553EEBF663EB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Шийдэл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F09B8F-0AE7-4187-9C76-6637257C1846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800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Dashboard дээр байрлуулсан ухаалаг утас жолоочийн төлөвийг хянана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A18543-FE15-4794-988B-9BED226C8333}"/>
              </a:ext>
            </a:extLst>
          </p:cNvPr>
          <p:cNvSpPr>
            <a:spLocks noGrp="1"/>
          </p:cNvSpPr>
          <p:nvPr/>
        </p:nvSpPr>
        <p:spPr>
          <a:xfrm>
            <a:off x="10144125" y="5143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FATIGUEGUARD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29D03-864B-414D-B47A-77BE4AF62818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>
              <a:def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Утасны урд камер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67BC0BF-AA1B-46A8-9C09-CB91D70D3EA5}"/>
              </a:ext>
            </a:extLst>
          </p:cNvPr>
          <p:cNvSpPr>
            <a:spLocks noGrp="1"/>
          </p:cNvSpPr>
          <p:nvPr/>
        </p:nvSpPr>
        <p:spPr>
          <a:xfrm>
            <a:off x="904875" y="2419350"/>
            <a:ext cx="1619250" cy="2476500"/>
          </a:xfrm>
          <a:prstGeom prst="roundRect">
            <a:avLst>
              <a:gd name="adj" fmla="val 4706"/>
            </a:avLst>
          </a:prstGeom>
          <a:solidFill>
            <a:srgbClr val="0E1C31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EEDF3A-8C75-49C8-9EA1-68412D64700B}"/>
              </a:ext>
            </a:extLst>
          </p:cNvPr>
          <p:cNvSpPr>
            <a:spLocks noGrp="1"/>
          </p:cNvSpPr>
          <p:nvPr/>
        </p:nvSpPr>
        <p:spPr>
          <a:xfrm>
            <a:off x="1085850" y="2705100"/>
            <a:ext cx="1257300" cy="1428750"/>
          </a:xfrm>
          <a:prstGeom prst="roundRect">
            <a:avLst>
              <a:gd name="adj" fmla="val 6061"/>
            </a:avLst>
          </a:prstGeom>
          <a:solidFill>
            <a:srgbClr val="122B4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41615-4F9B-4D42-A2C0-1832CE5DD50A}"/>
              </a:ext>
            </a:extLst>
          </p:cNvPr>
          <p:cNvSpPr>
            <a:spLocks noGrp="1"/>
          </p:cNvSpPr>
          <p:nvPr/>
        </p:nvSpPr>
        <p:spPr>
          <a:xfrm>
            <a:off x="1423987" y="2964355"/>
            <a:ext cx="7143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881" lnSpcReduction="10000"/>
          </a:bodyPr>
          <a:lstStyle/>
          <a:p>
            <a:pPr>
              <a:defRPr sz="4200" b="0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 dirty="0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◉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B2BC3B-8523-43F1-8114-018557C77DD7}"/>
              </a:ext>
            </a:extLst>
          </p:cNvPr>
          <p:cNvSpPr>
            <a:spLocks noGrp="1"/>
          </p:cNvSpPr>
          <p:nvPr/>
        </p:nvSpPr>
        <p:spPr>
          <a:xfrm>
            <a:off x="1047750" y="433387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667"/>
          </a:bodyPr>
          <a:lstStyle/>
          <a:p>
            <a:pPr>
              <a:def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front camera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220609-5402-43B8-9599-22FF42644B29}"/>
              </a:ext>
            </a:extLst>
          </p:cNvPr>
          <p:cNvSpPr>
            <a:spLocks noGrp="1"/>
          </p:cNvSpPr>
          <p:nvPr/>
        </p:nvSpPr>
        <p:spPr>
          <a:xfrm>
            <a:off x="3429000" y="2628900"/>
            <a:ext cx="1619250" cy="1714500"/>
          </a:xfrm>
          <a:prstGeom prst="roundRect">
            <a:avLst>
              <a:gd name="adj" fmla="val 4706"/>
            </a:avLst>
          </a:prstGeom>
          <a:solidFill>
            <a:srgbClr val="0E1C31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38D9CD-1762-4C63-8C15-F833167F7DA7}"/>
              </a:ext>
            </a:extLst>
          </p:cNvPr>
          <p:cNvSpPr>
            <a:spLocks noGrp="1"/>
          </p:cNvSpPr>
          <p:nvPr/>
        </p:nvSpPr>
        <p:spPr>
          <a:xfrm>
            <a:off x="3619500" y="28575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>
              <a:def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548B6E-EC78-4736-8B85-E2E27772B2AD}"/>
              </a:ext>
            </a:extLst>
          </p:cNvPr>
          <p:cNvSpPr>
            <a:spLocks noGrp="1"/>
          </p:cNvSpPr>
          <p:nvPr/>
        </p:nvSpPr>
        <p:spPr>
          <a:xfrm>
            <a:off x="3619500" y="329565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/>
          </a:bodyPr>
          <a:lstStyle/>
          <a:p>
            <a:pPr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Нүд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54371F-3E48-4D25-BDB1-AEA9E6F2E837}"/>
              </a:ext>
            </a:extLst>
          </p:cNvPr>
          <p:cNvSpPr>
            <a:spLocks noGrp="1"/>
          </p:cNvSpPr>
          <p:nvPr/>
        </p:nvSpPr>
        <p:spPr>
          <a:xfrm>
            <a:off x="3619500" y="3714750"/>
            <a:ext cx="1238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Нүд нээлттэй эсэх, PERCLOS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A37057-93CF-4A93-ACE1-E9022457767A}"/>
              </a:ext>
            </a:extLst>
          </p:cNvPr>
          <p:cNvSpPr>
            <a:spLocks noGrp="1"/>
          </p:cNvSpPr>
          <p:nvPr/>
        </p:nvSpPr>
        <p:spPr>
          <a:xfrm>
            <a:off x="5114925" y="3238500"/>
            <a:ext cx="2286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252"/>
          </a:bodyPr>
          <a:lstStyle/>
          <a:p>
            <a:pPr>
              <a:def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3014097-CAD8-4FB4-852B-A26720AB8BF8}"/>
              </a:ext>
            </a:extLst>
          </p:cNvPr>
          <p:cNvSpPr>
            <a:spLocks noGrp="1"/>
          </p:cNvSpPr>
          <p:nvPr/>
        </p:nvSpPr>
        <p:spPr>
          <a:xfrm>
            <a:off x="5381625" y="2628900"/>
            <a:ext cx="1619250" cy="1714500"/>
          </a:xfrm>
          <a:prstGeom prst="roundRect">
            <a:avLst>
              <a:gd name="adj" fmla="val 4706"/>
            </a:avLst>
          </a:prstGeom>
          <a:solidFill>
            <a:srgbClr val="0E1C31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C95AB7-7336-4E56-A839-B7CC28CCF894}"/>
              </a:ext>
            </a:extLst>
          </p:cNvPr>
          <p:cNvSpPr>
            <a:spLocks noGrp="1"/>
          </p:cNvSpPr>
          <p:nvPr/>
        </p:nvSpPr>
        <p:spPr>
          <a:xfrm>
            <a:off x="5572125" y="28575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>
              <a:def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63701D-9628-410E-BEB6-457427040102}"/>
              </a:ext>
            </a:extLst>
          </p:cNvPr>
          <p:cNvSpPr>
            <a:spLocks noGrp="1"/>
          </p:cNvSpPr>
          <p:nvPr/>
        </p:nvSpPr>
        <p:spPr>
          <a:xfrm>
            <a:off x="5572125" y="329565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/>
          </a:bodyPr>
          <a:lstStyle/>
          <a:p>
            <a:pPr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Толгой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D8CA57-7920-4667-8A7B-E60BAF92523B}"/>
              </a:ext>
            </a:extLst>
          </p:cNvPr>
          <p:cNvSpPr>
            <a:spLocks noGrp="1"/>
          </p:cNvSpPr>
          <p:nvPr/>
        </p:nvSpPr>
        <p:spPr>
          <a:xfrm>
            <a:off x="5572125" y="3714750"/>
            <a:ext cx="1238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996"/>
          </a:bodyPr>
          <a:lstStyle/>
          <a:p>
            <a:pPr>
              <a:def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Pitch өөрчлөлт, дохилтын давтамж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AAF015-0235-4CE9-A136-FA2C830DC60D}"/>
              </a:ext>
            </a:extLst>
          </p:cNvPr>
          <p:cNvSpPr>
            <a:spLocks noGrp="1"/>
          </p:cNvSpPr>
          <p:nvPr/>
        </p:nvSpPr>
        <p:spPr>
          <a:xfrm>
            <a:off x="7067550" y="3238500"/>
            <a:ext cx="2286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252"/>
          </a:bodyPr>
          <a:lstStyle/>
          <a:p>
            <a:pPr>
              <a:def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F4EAFAD-BD52-4AC4-AACD-3F997F409A53}"/>
              </a:ext>
            </a:extLst>
          </p:cNvPr>
          <p:cNvSpPr>
            <a:spLocks noGrp="1"/>
          </p:cNvSpPr>
          <p:nvPr/>
        </p:nvSpPr>
        <p:spPr>
          <a:xfrm>
            <a:off x="7334250" y="2628900"/>
            <a:ext cx="1619250" cy="1714500"/>
          </a:xfrm>
          <a:prstGeom prst="roundRect">
            <a:avLst>
              <a:gd name="adj" fmla="val 4706"/>
            </a:avLst>
          </a:prstGeom>
          <a:solidFill>
            <a:srgbClr val="0E1C31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8A7CF3-4854-42C6-979C-11BB0BEBE873}"/>
              </a:ext>
            </a:extLst>
          </p:cNvPr>
          <p:cNvSpPr>
            <a:spLocks noGrp="1"/>
          </p:cNvSpPr>
          <p:nvPr/>
        </p:nvSpPr>
        <p:spPr>
          <a:xfrm>
            <a:off x="7524750" y="28575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>
              <a:def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062FC7-1954-4D38-A379-C4A8078AD069}"/>
              </a:ext>
            </a:extLst>
          </p:cNvPr>
          <p:cNvSpPr>
            <a:spLocks noGrp="1"/>
          </p:cNvSpPr>
          <p:nvPr/>
        </p:nvSpPr>
        <p:spPr>
          <a:xfrm>
            <a:off x="7524750" y="329565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/>
          </a:bodyPr>
          <a:lstStyle/>
          <a:p>
            <a:pPr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EDC6FF-8D0E-4E63-869D-B56B522E848F}"/>
              </a:ext>
            </a:extLst>
          </p:cNvPr>
          <p:cNvSpPr>
            <a:spLocks noGrp="1"/>
          </p:cNvSpPr>
          <p:nvPr/>
        </p:nvSpPr>
        <p:spPr>
          <a:xfrm>
            <a:off x="7524750" y="3714750"/>
            <a:ext cx="1238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0–100 эрсдэлийн үнэлгээ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0D5CDA-77A3-4F76-A7C4-927868F85EDA}"/>
              </a:ext>
            </a:extLst>
          </p:cNvPr>
          <p:cNvSpPr>
            <a:spLocks noGrp="1"/>
          </p:cNvSpPr>
          <p:nvPr/>
        </p:nvSpPr>
        <p:spPr>
          <a:xfrm>
            <a:off x="9020175" y="3238500"/>
            <a:ext cx="2286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252"/>
          </a:bodyPr>
          <a:lstStyle/>
          <a:p>
            <a:pPr>
              <a:def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7B2E7E2-F1F0-4ECC-9327-7BBE54E11C57}"/>
              </a:ext>
            </a:extLst>
          </p:cNvPr>
          <p:cNvSpPr>
            <a:spLocks noGrp="1"/>
          </p:cNvSpPr>
          <p:nvPr/>
        </p:nvSpPr>
        <p:spPr>
          <a:xfrm>
            <a:off x="9286875" y="2628900"/>
            <a:ext cx="1619250" cy="1714500"/>
          </a:xfrm>
          <a:prstGeom prst="roundRect">
            <a:avLst>
              <a:gd name="adj" fmla="val 4706"/>
            </a:avLst>
          </a:prstGeom>
          <a:solidFill>
            <a:srgbClr val="0E1C31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B808E6-18FE-48BA-AE11-BDDED07FE2E9}"/>
              </a:ext>
            </a:extLst>
          </p:cNvPr>
          <p:cNvSpPr>
            <a:spLocks noGrp="1"/>
          </p:cNvSpPr>
          <p:nvPr/>
        </p:nvSpPr>
        <p:spPr>
          <a:xfrm>
            <a:off x="9477375" y="28575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>
              <a:def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090B0C-B41E-4510-AA56-6CF2D8997A6C}"/>
              </a:ext>
            </a:extLst>
          </p:cNvPr>
          <p:cNvSpPr>
            <a:spLocks noGrp="1"/>
          </p:cNvSpPr>
          <p:nvPr/>
        </p:nvSpPr>
        <p:spPr>
          <a:xfrm>
            <a:off x="9477375" y="329565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/>
          </a:bodyPr>
          <a:lstStyle/>
          <a:p>
            <a:pPr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Alert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625DCA-FD44-4A1F-BD7E-EFAC37A9819B}"/>
              </a:ext>
            </a:extLst>
          </p:cNvPr>
          <p:cNvSpPr>
            <a:spLocks noGrp="1"/>
          </p:cNvSpPr>
          <p:nvPr/>
        </p:nvSpPr>
        <p:spPr>
          <a:xfrm>
            <a:off x="9477375" y="3714750"/>
            <a:ext cx="1238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127"/>
          </a:bodyPr>
          <a:lstStyle/>
          <a:p>
            <a:pPr>
              <a:def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Дохиолол, vibration, зөвлөгөө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15674B-EF41-46AE-8C71-3A75A01741D4}"/>
              </a:ext>
            </a:extLst>
          </p:cNvPr>
          <p:cNvSpPr>
            <a:spLocks noGrp="1"/>
          </p:cNvSpPr>
          <p:nvPr/>
        </p:nvSpPr>
        <p:spPr>
          <a:xfrm>
            <a:off x="3429000" y="4953000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12"/>
          </a:bodyPr>
          <a:lstStyle/>
          <a:p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Камерын raw видео default байдлаар сервер рүү илгээхгүй. Хувийн мэдээллийг төхөөрөмж дээр боловсруулах зарчим баримтална.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5CFC0C-6337-444D-8CF4-E75629458A0F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2941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E731D3-CEF0-4EE6-9AE0-C743FA1C6845}"/>
              </a:ext>
            </a:extLst>
          </p:cNvPr>
          <p:cNvSpPr>
            <a:spLocks noGrp="1"/>
          </p:cNvSpPr>
          <p:nvPr/>
        </p:nvSpPr>
        <p:spPr>
          <a:xfrm>
            <a:off x="666750" y="6543675"/>
            <a:ext cx="4286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A57326-847A-4069-8CCD-7DA7CA605305}"/>
              </a:ext>
            </a:extLst>
          </p:cNvPr>
          <p:cNvSpPr>
            <a:spLocks noGrp="1"/>
          </p:cNvSpPr>
          <p:nvPr/>
        </p:nvSpPr>
        <p:spPr>
          <a:xfrm>
            <a:off x="8858250" y="6543675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Driver fatigue detection project</a:t>
            </a:r>
          </a:p>
        </p:txBody>
      </p:sp>
    </p:spTree>
    <p:extLst>
      <p:ext uri="{BB962C8B-B14F-4D97-AF65-F5344CB8AC3E}">
        <p14:creationId xmlns:p14="http://schemas.microsoft.com/office/powerpoint/2010/main" val="1576129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6A91027-C706-4C13-BB16-1A8E89F41C50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Системийн архитектур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FE1AD5-F223-4DE2-8D48-ACC16456A001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800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Real-time detection ба аюулгүй ажиллагааны зөвлөгөөг тусгаарласан урсгал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6740CD-F2DC-4D32-BBE1-A63F5AF054FE}"/>
              </a:ext>
            </a:extLst>
          </p:cNvPr>
          <p:cNvSpPr>
            <a:spLocks noGrp="1"/>
          </p:cNvSpPr>
          <p:nvPr/>
        </p:nvSpPr>
        <p:spPr>
          <a:xfrm>
            <a:off x="10144125" y="5143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FATIGUEGUARD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A11D3E-C98A-46DE-B445-985DAD1E4BF2}"/>
              </a:ext>
            </a:extLst>
          </p:cNvPr>
          <p:cNvSpPr>
            <a:spLocks noGrp="1"/>
          </p:cNvSpPr>
          <p:nvPr/>
        </p:nvSpPr>
        <p:spPr>
          <a:xfrm>
            <a:off x="1143000" y="1638300"/>
            <a:ext cx="9906000" cy="723900"/>
          </a:xfrm>
          <a:prstGeom prst="roundRect">
            <a:avLst>
              <a:gd name="adj" fmla="val 10526"/>
            </a:avLst>
          </a:prstGeom>
          <a:solidFill>
            <a:srgbClr val="0E1C31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101A90-74AA-4CCF-98FC-D745D0AA9571}"/>
              </a:ext>
            </a:extLst>
          </p:cNvPr>
          <p:cNvSpPr>
            <a:spLocks noGrp="1"/>
          </p:cNvSpPr>
          <p:nvPr/>
        </p:nvSpPr>
        <p:spPr>
          <a:xfrm>
            <a:off x="1143000" y="1638300"/>
            <a:ext cx="114300" cy="723900"/>
          </a:xfrm>
          <a:prstGeom prst="roundRect">
            <a:avLst>
              <a:gd name="adj" fmla="val 50000"/>
            </a:avLst>
          </a:prstGeom>
          <a:solidFill>
            <a:srgbClr val="66D9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49C291-8CF4-4168-A47C-2ECB5E553FE1}"/>
              </a:ext>
            </a:extLst>
          </p:cNvPr>
          <p:cNvSpPr>
            <a:spLocks noGrp="1"/>
          </p:cNvSpPr>
          <p:nvPr/>
        </p:nvSpPr>
        <p:spPr>
          <a:xfrm>
            <a:off x="1571625" y="1800225"/>
            <a:ext cx="2524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Mobile 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04F75E-B352-4310-AF37-4191AED1A5EC}"/>
              </a:ext>
            </a:extLst>
          </p:cNvPr>
          <p:cNvSpPr>
            <a:spLocks noGrp="1"/>
          </p:cNvSpPr>
          <p:nvPr/>
        </p:nvSpPr>
        <p:spPr>
          <a:xfrm>
            <a:off x="4476750" y="1819275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196"/>
          </a:bodyPr>
          <a:lstStyle/>
          <a:p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CameraView, setup, calibration, driving UI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B9007E-8684-4623-8A5A-6315C1DFD22E}"/>
              </a:ext>
            </a:extLst>
          </p:cNvPr>
          <p:cNvSpPr>
            <a:spLocks noGrp="1"/>
          </p:cNvSpPr>
          <p:nvPr/>
        </p:nvSpPr>
        <p:spPr>
          <a:xfrm>
            <a:off x="5838825" y="2390775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8333"/>
          </a:bodyPr>
          <a:lstStyle/>
          <a:p>
            <a:pPr>
              <a:defRPr sz="15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BA16345-298B-4A45-AA44-CE53BEB7378C}"/>
              </a:ext>
            </a:extLst>
          </p:cNvPr>
          <p:cNvSpPr>
            <a:spLocks noGrp="1"/>
          </p:cNvSpPr>
          <p:nvPr/>
        </p:nvSpPr>
        <p:spPr>
          <a:xfrm>
            <a:off x="1143000" y="2638425"/>
            <a:ext cx="9906000" cy="723900"/>
          </a:xfrm>
          <a:prstGeom prst="roundRect">
            <a:avLst>
              <a:gd name="adj" fmla="val 10526"/>
            </a:avLst>
          </a:prstGeom>
          <a:solidFill>
            <a:srgbClr val="0E1C31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5EDBE23-3472-42B5-BADB-195721929B25}"/>
              </a:ext>
            </a:extLst>
          </p:cNvPr>
          <p:cNvSpPr>
            <a:spLocks noGrp="1"/>
          </p:cNvSpPr>
          <p:nvPr/>
        </p:nvSpPr>
        <p:spPr>
          <a:xfrm>
            <a:off x="1143000" y="2638425"/>
            <a:ext cx="114300" cy="7239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8C2B9F-DA28-4985-A06E-3F992032242B}"/>
              </a:ext>
            </a:extLst>
          </p:cNvPr>
          <p:cNvSpPr>
            <a:spLocks noGrp="1"/>
          </p:cNvSpPr>
          <p:nvPr/>
        </p:nvSpPr>
        <p:spPr>
          <a:xfrm>
            <a:off x="1571625" y="2800350"/>
            <a:ext cx="2524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Computer Vision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8EA4A0-82B1-4E8C-AA1A-9FBACEBE90A0}"/>
              </a:ext>
            </a:extLst>
          </p:cNvPr>
          <p:cNvSpPr>
            <a:spLocks noGrp="1"/>
          </p:cNvSpPr>
          <p:nvPr/>
        </p:nvSpPr>
        <p:spPr>
          <a:xfrm>
            <a:off x="4476750" y="281940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196"/>
          </a:bodyPr>
          <a:lstStyle/>
          <a:p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Face landmarks, нүд анилт, толгойн өнцөг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902E02-EC1F-40DE-A2A7-7C26E66CFD1E}"/>
              </a:ext>
            </a:extLst>
          </p:cNvPr>
          <p:cNvSpPr>
            <a:spLocks noGrp="1"/>
          </p:cNvSpPr>
          <p:nvPr/>
        </p:nvSpPr>
        <p:spPr>
          <a:xfrm>
            <a:off x="5838825" y="3390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8333"/>
          </a:bodyPr>
          <a:lstStyle/>
          <a:p>
            <a:pPr>
              <a:defRPr sz="15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CF642B8-482C-49E7-BD96-260E795FCE11}"/>
              </a:ext>
            </a:extLst>
          </p:cNvPr>
          <p:cNvSpPr>
            <a:spLocks noGrp="1"/>
          </p:cNvSpPr>
          <p:nvPr/>
        </p:nvSpPr>
        <p:spPr>
          <a:xfrm>
            <a:off x="1143000" y="3638550"/>
            <a:ext cx="9906000" cy="723900"/>
          </a:xfrm>
          <a:prstGeom prst="roundRect">
            <a:avLst>
              <a:gd name="adj" fmla="val 10526"/>
            </a:avLst>
          </a:prstGeom>
          <a:solidFill>
            <a:srgbClr val="0E1C31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692D17F-34E6-499A-9644-9D4D5D5DFEDF}"/>
              </a:ext>
            </a:extLst>
          </p:cNvPr>
          <p:cNvSpPr>
            <a:spLocks noGrp="1"/>
          </p:cNvSpPr>
          <p:nvPr/>
        </p:nvSpPr>
        <p:spPr>
          <a:xfrm>
            <a:off x="1143000" y="3638550"/>
            <a:ext cx="114300" cy="723900"/>
          </a:xfrm>
          <a:prstGeom prst="roundRect">
            <a:avLst>
              <a:gd name="adj" fmla="val 50000"/>
            </a:avLst>
          </a:prstGeom>
          <a:solidFill>
            <a:srgbClr val="F5B84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AEFC02-0017-4B14-8F83-092C0FC3E32C}"/>
              </a:ext>
            </a:extLst>
          </p:cNvPr>
          <p:cNvSpPr>
            <a:spLocks noGrp="1"/>
          </p:cNvSpPr>
          <p:nvPr/>
        </p:nvSpPr>
        <p:spPr>
          <a:xfrm>
            <a:off x="1571625" y="3800475"/>
            <a:ext cx="2524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Fatigue engine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AE3D01-B69D-4631-9BB1-D8285E73BDB3}"/>
              </a:ext>
            </a:extLst>
          </p:cNvPr>
          <p:cNvSpPr>
            <a:spLocks noGrp="1"/>
          </p:cNvSpPr>
          <p:nvPr/>
        </p:nvSpPr>
        <p:spPr>
          <a:xfrm>
            <a:off x="4476750" y="3819525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196"/>
          </a:bodyPr>
          <a:lstStyle/>
          <a:p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PERCLOS, nods, score, risk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6616DB-9C30-45BC-B63B-2E6B26F4D2E7}"/>
              </a:ext>
            </a:extLst>
          </p:cNvPr>
          <p:cNvSpPr>
            <a:spLocks noGrp="1"/>
          </p:cNvSpPr>
          <p:nvPr/>
        </p:nvSpPr>
        <p:spPr>
          <a:xfrm>
            <a:off x="5838825" y="4391025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8333"/>
          </a:bodyPr>
          <a:lstStyle/>
          <a:p>
            <a:pPr>
              <a:defRPr sz="15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98CC987-1B80-4828-8911-351E1BB4D641}"/>
              </a:ext>
            </a:extLst>
          </p:cNvPr>
          <p:cNvSpPr>
            <a:spLocks noGrp="1"/>
          </p:cNvSpPr>
          <p:nvPr/>
        </p:nvSpPr>
        <p:spPr>
          <a:xfrm>
            <a:off x="1143000" y="4638675"/>
            <a:ext cx="9906000" cy="723900"/>
          </a:xfrm>
          <a:prstGeom prst="roundRect">
            <a:avLst>
              <a:gd name="adj" fmla="val 10526"/>
            </a:avLst>
          </a:prstGeom>
          <a:solidFill>
            <a:srgbClr val="0E1C31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084FBF4-44B5-4E35-9B0A-0D763CF131D0}"/>
              </a:ext>
            </a:extLst>
          </p:cNvPr>
          <p:cNvSpPr>
            <a:spLocks noGrp="1"/>
          </p:cNvSpPr>
          <p:nvPr/>
        </p:nvSpPr>
        <p:spPr>
          <a:xfrm>
            <a:off x="1143000" y="4638675"/>
            <a:ext cx="114300" cy="723900"/>
          </a:xfrm>
          <a:prstGeom prst="roundRect">
            <a:avLst>
              <a:gd name="adj" fmla="val 50000"/>
            </a:avLst>
          </a:prstGeom>
          <a:solidFill>
            <a:srgbClr val="FB6B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FB9AB6-7CAD-45F6-989E-3A737062EC62}"/>
              </a:ext>
            </a:extLst>
          </p:cNvPr>
          <p:cNvSpPr>
            <a:spLocks noGrp="1"/>
          </p:cNvSpPr>
          <p:nvPr/>
        </p:nvSpPr>
        <p:spPr>
          <a:xfrm>
            <a:off x="1571625" y="4800600"/>
            <a:ext cx="2524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Safety response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B15BFD-CF11-4211-9095-2EF0BFC7AFCE}"/>
              </a:ext>
            </a:extLst>
          </p:cNvPr>
          <p:cNvSpPr>
            <a:spLocks noGrp="1"/>
          </p:cNvSpPr>
          <p:nvPr/>
        </p:nvSpPr>
        <p:spPr>
          <a:xfrm>
            <a:off x="4476750" y="481965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196"/>
          </a:bodyPr>
          <a:lstStyle/>
          <a:p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Siren, vibration, source-grounded advice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131215-FF1D-4180-ADCB-ED7594B87EBE}"/>
              </a:ext>
            </a:extLst>
          </p:cNvPr>
          <p:cNvSpPr>
            <a:spLocks noGrp="1"/>
          </p:cNvSpPr>
          <p:nvPr/>
        </p:nvSpPr>
        <p:spPr>
          <a:xfrm>
            <a:off x="1143000" y="5810250"/>
            <a:ext cx="9715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668"/>
          </a:bodyPr>
          <a:lstStyle/>
          <a:p>
            <a:pPr>
              <a:defRPr sz="127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RAG нь сэрэмжлүүлгийн үндсэн шийдвэрийг гаргахгүй. Эрсдэлийн ангилал тогтсоны дараа баталгаатай эх сурвалжаас зөвлөгөө сонгоно.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241C11-2D73-4ABB-976C-57871B574DB1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2941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4E115F-8A2D-4893-A27D-5398355349C4}"/>
              </a:ext>
            </a:extLst>
          </p:cNvPr>
          <p:cNvSpPr>
            <a:spLocks noGrp="1"/>
          </p:cNvSpPr>
          <p:nvPr/>
        </p:nvSpPr>
        <p:spPr>
          <a:xfrm>
            <a:off x="666750" y="6543675"/>
            <a:ext cx="4286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A5263D-F72C-4B00-8EFF-F89D1388757C}"/>
              </a:ext>
            </a:extLst>
          </p:cNvPr>
          <p:cNvSpPr>
            <a:spLocks noGrp="1"/>
          </p:cNvSpPr>
          <p:nvPr/>
        </p:nvSpPr>
        <p:spPr>
          <a:xfrm>
            <a:off x="8858250" y="6543675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Driver fatigue detection project</a:t>
            </a:r>
          </a:p>
        </p:txBody>
      </p:sp>
    </p:spTree>
    <p:extLst>
      <p:ext uri="{BB962C8B-B14F-4D97-AF65-F5344CB8AC3E}">
        <p14:creationId xmlns:p14="http://schemas.microsoft.com/office/powerpoint/2010/main" val="2133399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393F760-2A5E-4076-94E4-199397820ED3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Mobile app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2D80D5-765B-4956-87AC-64C3242AEE9D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800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FatigueGuard UI нь жолоочийг камераа тохируулж, калибрац хийсний дараа monitoring screen рүү оруулна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A1DE49-B7BE-4837-85D2-01EC2042076A}"/>
              </a:ext>
            </a:extLst>
          </p:cNvPr>
          <p:cNvSpPr>
            <a:spLocks noGrp="1"/>
          </p:cNvSpPr>
          <p:nvPr/>
        </p:nvSpPr>
        <p:spPr>
          <a:xfrm>
            <a:off x="10144125" y="5143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FATIGUEGUARD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31A3B1-43FD-42D3-B459-E0D034CA1524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1762125" cy="2381250"/>
          </a:xfrm>
          <a:prstGeom prst="roundRect">
            <a:avLst>
              <a:gd name="adj" fmla="val 4324"/>
            </a:avLst>
          </a:prstGeom>
          <a:solidFill>
            <a:srgbClr val="0D1B2E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203050-C049-4AFA-AE67-5D0A48A8EADA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00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333"/>
          </a:bodyPr>
          <a:lstStyle/>
          <a:p>
            <a:pPr>
              <a:def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CBD7CC-B531-4101-BC14-D12E258DD5EE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Нүүр хуудас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B21C5B-5A56-47C9-BFFC-B056A6A40326}"/>
              </a:ext>
            </a:extLst>
          </p:cNvPr>
          <p:cNvSpPr>
            <a:spLocks noGrp="1"/>
          </p:cNvSpPr>
          <p:nvPr/>
        </p:nvSpPr>
        <p:spPr>
          <a:xfrm>
            <a:off x="857250" y="3219450"/>
            <a:ext cx="138112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Жолоодлого эхлүүлэх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EF3496-AF64-4583-8A7B-83D9F5CB5C28}"/>
              </a:ext>
            </a:extLst>
          </p:cNvPr>
          <p:cNvSpPr>
            <a:spLocks noGrp="1"/>
          </p:cNvSpPr>
          <p:nvPr/>
        </p:nvSpPr>
        <p:spPr>
          <a:xfrm>
            <a:off x="2447925" y="3028950"/>
            <a:ext cx="3619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167"/>
          </a:bodyPr>
          <a:lstStyle/>
          <a:p>
            <a:pPr>
              <a:def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B50D25B-C0BC-4757-90C4-2D08E0A9B5A2}"/>
              </a:ext>
            </a:extLst>
          </p:cNvPr>
          <p:cNvSpPr>
            <a:spLocks noGrp="1"/>
          </p:cNvSpPr>
          <p:nvPr/>
        </p:nvSpPr>
        <p:spPr>
          <a:xfrm>
            <a:off x="2905125" y="2047875"/>
            <a:ext cx="1762125" cy="2381250"/>
          </a:xfrm>
          <a:prstGeom prst="roundRect">
            <a:avLst>
              <a:gd name="adj" fmla="val 4324"/>
            </a:avLst>
          </a:prstGeom>
          <a:solidFill>
            <a:srgbClr val="0D1B2E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0E640B-65B8-4F30-9D01-6142C709BC4D}"/>
              </a:ext>
            </a:extLst>
          </p:cNvPr>
          <p:cNvSpPr>
            <a:spLocks noGrp="1"/>
          </p:cNvSpPr>
          <p:nvPr/>
        </p:nvSpPr>
        <p:spPr>
          <a:xfrm>
            <a:off x="3095625" y="2238375"/>
            <a:ext cx="400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333"/>
          </a:bodyPr>
          <a:lstStyle/>
          <a:p>
            <a:pPr>
              <a:def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061322-8EEE-4063-A88C-75D949BA8821}"/>
              </a:ext>
            </a:extLst>
          </p:cNvPr>
          <p:cNvSpPr>
            <a:spLocks noGrp="1"/>
          </p:cNvSpPr>
          <p:nvPr/>
        </p:nvSpPr>
        <p:spPr>
          <a:xfrm>
            <a:off x="3095625" y="2781300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Camera setup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FB60E6-3A37-4802-AF8B-4C9D0F9880FA}"/>
              </a:ext>
            </a:extLst>
          </p:cNvPr>
          <p:cNvSpPr>
            <a:spLocks noGrp="1"/>
          </p:cNvSpPr>
          <p:nvPr/>
        </p:nvSpPr>
        <p:spPr>
          <a:xfrm>
            <a:off x="3095625" y="3219450"/>
            <a:ext cx="138112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Нүүр, гэрэл, байрлал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ADE853-A712-456A-86F6-941088A92A81}"/>
              </a:ext>
            </a:extLst>
          </p:cNvPr>
          <p:cNvSpPr>
            <a:spLocks noGrp="1"/>
          </p:cNvSpPr>
          <p:nvPr/>
        </p:nvSpPr>
        <p:spPr>
          <a:xfrm>
            <a:off x="4686300" y="3028950"/>
            <a:ext cx="3619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167"/>
          </a:bodyPr>
          <a:lstStyle/>
          <a:p>
            <a:pPr>
              <a:def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A7A336B-79CC-4062-8B2B-9E94D150697D}"/>
              </a:ext>
            </a:extLst>
          </p:cNvPr>
          <p:cNvSpPr>
            <a:spLocks noGrp="1"/>
          </p:cNvSpPr>
          <p:nvPr/>
        </p:nvSpPr>
        <p:spPr>
          <a:xfrm>
            <a:off x="5143500" y="2047875"/>
            <a:ext cx="1762125" cy="2381250"/>
          </a:xfrm>
          <a:prstGeom prst="roundRect">
            <a:avLst>
              <a:gd name="adj" fmla="val 4324"/>
            </a:avLst>
          </a:prstGeom>
          <a:solidFill>
            <a:srgbClr val="0D1B2E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2432AE-0D3A-498D-978D-69BB8DDE639B}"/>
              </a:ext>
            </a:extLst>
          </p:cNvPr>
          <p:cNvSpPr>
            <a:spLocks noGrp="1"/>
          </p:cNvSpPr>
          <p:nvPr/>
        </p:nvSpPr>
        <p:spPr>
          <a:xfrm>
            <a:off x="5334000" y="2238375"/>
            <a:ext cx="400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333"/>
          </a:bodyPr>
          <a:lstStyle/>
          <a:p>
            <a:pPr>
              <a:def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779107-29C8-4604-90B7-A74430D81E99}"/>
              </a:ext>
            </a:extLst>
          </p:cNvPr>
          <p:cNvSpPr>
            <a:spLocks noGrp="1"/>
          </p:cNvSpPr>
          <p:nvPr/>
        </p:nvSpPr>
        <p:spPr>
          <a:xfrm>
            <a:off x="5334000" y="2781300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Калибраци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C4D0C0-1FBD-4C2C-9551-A5D1AE59E490}"/>
              </a:ext>
            </a:extLst>
          </p:cNvPr>
          <p:cNvSpPr>
            <a:spLocks noGrp="1"/>
          </p:cNvSpPr>
          <p:nvPr/>
        </p:nvSpPr>
        <p:spPr>
          <a:xfrm>
            <a:off x="5334000" y="3219450"/>
            <a:ext cx="138112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Нүд ба толгойн baseline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653150-7C35-4211-A58F-6EAEE487783E}"/>
              </a:ext>
            </a:extLst>
          </p:cNvPr>
          <p:cNvSpPr>
            <a:spLocks noGrp="1"/>
          </p:cNvSpPr>
          <p:nvPr/>
        </p:nvSpPr>
        <p:spPr>
          <a:xfrm>
            <a:off x="6924675" y="3028950"/>
            <a:ext cx="3619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167"/>
          </a:bodyPr>
          <a:lstStyle/>
          <a:p>
            <a:pPr>
              <a:def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D798752-B466-477C-8E07-92C2E0BFFCC7}"/>
              </a:ext>
            </a:extLst>
          </p:cNvPr>
          <p:cNvSpPr>
            <a:spLocks noGrp="1"/>
          </p:cNvSpPr>
          <p:nvPr/>
        </p:nvSpPr>
        <p:spPr>
          <a:xfrm>
            <a:off x="7381875" y="2047875"/>
            <a:ext cx="1762125" cy="2381250"/>
          </a:xfrm>
          <a:prstGeom prst="roundRect">
            <a:avLst>
              <a:gd name="adj" fmla="val 4324"/>
            </a:avLst>
          </a:prstGeom>
          <a:solidFill>
            <a:srgbClr val="0D1B2E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4E9C7C-F2A4-4097-8392-E21368F3D448}"/>
              </a:ext>
            </a:extLst>
          </p:cNvPr>
          <p:cNvSpPr>
            <a:spLocks noGrp="1"/>
          </p:cNvSpPr>
          <p:nvPr/>
        </p:nvSpPr>
        <p:spPr>
          <a:xfrm>
            <a:off x="7572375" y="2238375"/>
            <a:ext cx="400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333"/>
          </a:bodyPr>
          <a:lstStyle/>
          <a:p>
            <a:pPr>
              <a:def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485FD7-5C6C-4217-AF88-29A688C06C97}"/>
              </a:ext>
            </a:extLst>
          </p:cNvPr>
          <p:cNvSpPr>
            <a:spLocks noGrp="1"/>
          </p:cNvSpPr>
          <p:nvPr/>
        </p:nvSpPr>
        <p:spPr>
          <a:xfrm>
            <a:off x="7572375" y="2781300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Driving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CE176C-9306-4A50-8471-D3362BBE58B4}"/>
              </a:ext>
            </a:extLst>
          </p:cNvPr>
          <p:cNvSpPr>
            <a:spLocks noGrp="1"/>
          </p:cNvSpPr>
          <p:nvPr/>
        </p:nvSpPr>
        <p:spPr>
          <a:xfrm>
            <a:off x="7572375" y="3219450"/>
            <a:ext cx="138112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Score ба сэрэмжлүүлэг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5957C2-37D1-417B-839E-074C027EA5BC}"/>
              </a:ext>
            </a:extLst>
          </p:cNvPr>
          <p:cNvSpPr>
            <a:spLocks noGrp="1"/>
          </p:cNvSpPr>
          <p:nvPr/>
        </p:nvSpPr>
        <p:spPr>
          <a:xfrm>
            <a:off x="9163050" y="3028950"/>
            <a:ext cx="3619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167"/>
          </a:bodyPr>
          <a:lstStyle/>
          <a:p>
            <a:pPr>
              <a:def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96F672E-7E00-4791-8AEB-09B08771DA57}"/>
              </a:ext>
            </a:extLst>
          </p:cNvPr>
          <p:cNvSpPr>
            <a:spLocks noGrp="1"/>
          </p:cNvSpPr>
          <p:nvPr/>
        </p:nvSpPr>
        <p:spPr>
          <a:xfrm>
            <a:off x="9620250" y="2047875"/>
            <a:ext cx="1762125" cy="2381250"/>
          </a:xfrm>
          <a:prstGeom prst="roundRect">
            <a:avLst>
              <a:gd name="adj" fmla="val 4324"/>
            </a:avLst>
          </a:prstGeom>
          <a:solidFill>
            <a:srgbClr val="0D1B2E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4A78FE-7DE5-42A7-A8CA-A3F18FA73C72}"/>
              </a:ext>
            </a:extLst>
          </p:cNvPr>
          <p:cNvSpPr>
            <a:spLocks noGrp="1"/>
          </p:cNvSpPr>
          <p:nvPr/>
        </p:nvSpPr>
        <p:spPr>
          <a:xfrm>
            <a:off x="9810750" y="2238375"/>
            <a:ext cx="400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333"/>
          </a:bodyPr>
          <a:lstStyle/>
          <a:p>
            <a:pPr>
              <a:def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3E53EA-FD90-4DB9-8F26-6B6CF0967BCE}"/>
              </a:ext>
            </a:extLst>
          </p:cNvPr>
          <p:cNvSpPr>
            <a:spLocks noGrp="1"/>
          </p:cNvSpPr>
          <p:nvPr/>
        </p:nvSpPr>
        <p:spPr>
          <a:xfrm>
            <a:off x="9810750" y="2781300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2D3EC4-5B2A-4751-BC09-988243F0DCF1}"/>
              </a:ext>
            </a:extLst>
          </p:cNvPr>
          <p:cNvSpPr>
            <a:spLocks noGrp="1"/>
          </p:cNvSpPr>
          <p:nvPr/>
        </p:nvSpPr>
        <p:spPr>
          <a:xfrm>
            <a:off x="9810750" y="3219450"/>
            <a:ext cx="138112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Сессийн дүн ба AI зөвлөгөө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B8505D-3CEC-47C5-871F-35531E6AEFFD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10001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History, Settings, offline-data toggle болон alert volume control нь bottom navigation-аас ашиглагдана.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133F18-166E-4743-9C1E-69FA01A22B58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2941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0BF665-8814-4C1F-8352-650603B5EC72}"/>
              </a:ext>
            </a:extLst>
          </p:cNvPr>
          <p:cNvSpPr>
            <a:spLocks noGrp="1"/>
          </p:cNvSpPr>
          <p:nvPr/>
        </p:nvSpPr>
        <p:spPr>
          <a:xfrm>
            <a:off x="666750" y="6543675"/>
            <a:ext cx="4286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83D5D8-3674-4900-B3AF-4768E1C4E076}"/>
              </a:ext>
            </a:extLst>
          </p:cNvPr>
          <p:cNvSpPr>
            <a:spLocks noGrp="1"/>
          </p:cNvSpPr>
          <p:nvPr/>
        </p:nvSpPr>
        <p:spPr>
          <a:xfrm>
            <a:off x="8858250" y="6543675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Driver fatigue detection project</a:t>
            </a:r>
          </a:p>
        </p:txBody>
      </p:sp>
    </p:spTree>
    <p:extLst>
      <p:ext uri="{BB962C8B-B14F-4D97-AF65-F5344CB8AC3E}">
        <p14:creationId xmlns:p14="http://schemas.microsoft.com/office/powerpoint/2010/main" val="2059660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8C6AA92-3BF9-4D64-9568-1B83D80D05A6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Одоогийн хэрэгжилтийн төлөв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6185E7-5D8D-414F-B6FE-23AF23D71C22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800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UI prototype болон Computer Vision модулийг ялгаж ойлгох нь чухал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195A91-212D-4C50-8764-E9464224DC84}"/>
              </a:ext>
            </a:extLst>
          </p:cNvPr>
          <p:cNvSpPr>
            <a:spLocks noGrp="1"/>
          </p:cNvSpPr>
          <p:nvPr/>
        </p:nvSpPr>
        <p:spPr>
          <a:xfrm>
            <a:off x="10144125" y="5143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FATIGUEGUARD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D2D0D2-ABAD-4BF7-87C8-909D98A7B71B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4762500" cy="2952750"/>
          </a:xfrm>
          <a:prstGeom prst="roundRect">
            <a:avLst>
              <a:gd name="adj" fmla="val 2581"/>
            </a:avLst>
          </a:prstGeom>
          <a:solidFill>
            <a:srgbClr val="0E1C31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59C6B3-B1D3-4CD5-828F-CBE8E50EA970}"/>
              </a:ext>
            </a:extLst>
          </p:cNvPr>
          <p:cNvSpPr>
            <a:spLocks noGrp="1"/>
          </p:cNvSpPr>
          <p:nvPr/>
        </p:nvSpPr>
        <p:spPr>
          <a:xfrm>
            <a:off x="933450" y="1952625"/>
            <a:ext cx="47625" cy="2571750"/>
          </a:xfrm>
          <a:prstGeom prst="roundRect">
            <a:avLst>
              <a:gd name="adj" fmla="val 50000"/>
            </a:avLst>
          </a:prstGeom>
          <a:solidFill>
            <a:srgbClr val="46D3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D5781E-A332-4B05-9FFC-691C6F4F1B2B}"/>
              </a:ext>
            </a:extLst>
          </p:cNvPr>
          <p:cNvSpPr>
            <a:spLocks noGrp="1"/>
          </p:cNvSpPr>
          <p:nvPr/>
        </p:nvSpPr>
        <p:spPr>
          <a:xfrm>
            <a:off x="1162050" y="1981200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>
              <a:def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Бэлэн болсон хэсэг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A42969-85B6-498E-9B72-F173E29432D7}"/>
              </a:ext>
            </a:extLst>
          </p:cNvPr>
          <p:cNvSpPr>
            <a:spLocks noGrp="1"/>
          </p:cNvSpPr>
          <p:nvPr/>
        </p:nvSpPr>
        <p:spPr>
          <a:xfrm>
            <a:off x="1162050" y="2362200"/>
            <a:ext cx="4143375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Expo mobile UI</a:t>
            </a:r>
          </a:p>
          <a:p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Камерын preview ба permission</a:t>
            </a:r>
          </a:p>
          <a:p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Setup, calibration, monitoring flow</a:t>
            </a:r>
          </a:p>
          <a:p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History, settings, summary screens</a:t>
            </a:r>
          </a:p>
          <a:p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Alert-ийн UI болон debug panel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26E4A3-2819-40F6-8112-5EF9DAECF17A}"/>
              </a:ext>
            </a:extLst>
          </p:cNvPr>
          <p:cNvSpPr>
            <a:spLocks noGrp="1"/>
          </p:cNvSpPr>
          <p:nvPr/>
        </p:nvSpPr>
        <p:spPr>
          <a:xfrm>
            <a:off x="6667500" y="1762125"/>
            <a:ext cx="4762500" cy="2952750"/>
          </a:xfrm>
          <a:prstGeom prst="roundRect">
            <a:avLst>
              <a:gd name="adj" fmla="val 2581"/>
            </a:avLst>
          </a:prstGeom>
          <a:solidFill>
            <a:srgbClr val="0E1C31"/>
          </a:solidFill>
          <a:ln w="9525">
            <a:solidFill>
              <a:srgbClr val="29415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8AA7F34-6844-485F-93FC-B3118BB5F986}"/>
              </a:ext>
            </a:extLst>
          </p:cNvPr>
          <p:cNvSpPr>
            <a:spLocks noGrp="1"/>
          </p:cNvSpPr>
          <p:nvPr/>
        </p:nvSpPr>
        <p:spPr>
          <a:xfrm>
            <a:off x="6838950" y="1952625"/>
            <a:ext cx="47625" cy="2571750"/>
          </a:xfrm>
          <a:prstGeom prst="roundRect">
            <a:avLst>
              <a:gd name="adj" fmla="val 50000"/>
            </a:avLst>
          </a:prstGeom>
          <a:solidFill>
            <a:srgbClr val="F5B84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3CF333-378C-4838-9088-A11A9C7F0E80}"/>
              </a:ext>
            </a:extLst>
          </p:cNvPr>
          <p:cNvSpPr>
            <a:spLocks noGrp="1"/>
          </p:cNvSpPr>
          <p:nvPr/>
        </p:nvSpPr>
        <p:spPr>
          <a:xfrm>
            <a:off x="7067550" y="1981200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>
              <a:def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Дараагийн хэрэгжүүлэх хэсэг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1C9AD7-9EEF-4B32-B3EB-ADA6054D0A5E}"/>
              </a:ext>
            </a:extLst>
          </p:cNvPr>
          <p:cNvSpPr>
            <a:spLocks noGrp="1"/>
          </p:cNvSpPr>
          <p:nvPr/>
        </p:nvSpPr>
        <p:spPr>
          <a:xfrm>
            <a:off x="7067550" y="2362200"/>
            <a:ext cx="4143375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Face landmark detector</a:t>
            </a:r>
          </a:p>
          <a:p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Нүүр camera frame дотор байгаа эсэх</a:t>
            </a:r>
          </a:p>
          <a:p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Нүд анилт ба head-nod хэмжилт</a:t>
            </a:r>
          </a:p>
          <a:p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Fatigue Score-ийн бодит өгөгдөл</a:t>
            </a:r>
          </a:p>
          <a:p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Native siren болон RAG API integration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F43197-1657-4F4A-A6F9-7E21198EAF5F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10572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582"/>
          </a:bodyPr>
          <a:lstStyle/>
          <a:p>
            <a:pPr>
              <a:defRPr sz="1500" b="1">
                <a:solidFill>
                  <a:srgbClr val="F5B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B84B"/>
                </a:solidFill>
                <a:latin typeface="Helvetica Neue"/>
                <a:ea typeface="Helvetica Neue"/>
                <a:cs typeface="Helvetica Neue"/>
              </a:rPr>
              <a:t>Чухал: одоогийн Camera setup нь камераас нүүрний landmark уншдаггүй. Нөхцөл шалгалт нь UI/debug state дээр ажиллаж байна.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F4AA73-E277-4132-8F75-BCBEE257C6A2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2941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E30BA8-6DCA-4F73-B6B8-1D450A88927B}"/>
              </a:ext>
            </a:extLst>
          </p:cNvPr>
          <p:cNvSpPr>
            <a:spLocks noGrp="1"/>
          </p:cNvSpPr>
          <p:nvPr/>
        </p:nvSpPr>
        <p:spPr>
          <a:xfrm>
            <a:off x="666750" y="6543675"/>
            <a:ext cx="4286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E8C023-4D2B-4734-B9AF-1E7851EF1E34}"/>
              </a:ext>
            </a:extLst>
          </p:cNvPr>
          <p:cNvSpPr>
            <a:spLocks noGrp="1"/>
          </p:cNvSpPr>
          <p:nvPr/>
        </p:nvSpPr>
        <p:spPr>
          <a:xfrm>
            <a:off x="8858250" y="6543675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Driver fatigue detection project</a:t>
            </a:r>
          </a:p>
        </p:txBody>
      </p:sp>
    </p:spTree>
    <p:extLst>
      <p:ext uri="{BB962C8B-B14F-4D97-AF65-F5344CB8AC3E}">
        <p14:creationId xmlns:p14="http://schemas.microsoft.com/office/powerpoint/2010/main" val="1191776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F4363E9-6D53-4D59-A55A-417B171CC43C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Fatigue Score-ийн логик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F598E8-50CE-42C6-9040-C76ED35236C9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800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Эхний prototype босго нь calibration болон бодит туршилтаар сайжирна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5119A0-F2ED-4BFC-A90D-0928D1FA1CC5}"/>
              </a:ext>
            </a:extLst>
          </p:cNvPr>
          <p:cNvSpPr>
            <a:spLocks noGrp="1"/>
          </p:cNvSpPr>
          <p:nvPr/>
        </p:nvSpPr>
        <p:spPr>
          <a:xfrm>
            <a:off x="10144125" y="5143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FATIGUEGUARD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A6574-9871-4967-959F-339822FC4526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def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PERCLOS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30A335-9CD3-470F-9B73-2901F9105F30}"/>
              </a:ext>
            </a:extLst>
          </p:cNvPr>
          <p:cNvSpPr>
            <a:spLocks noGrp="1"/>
          </p:cNvSpPr>
          <p:nvPr/>
        </p:nvSpPr>
        <p:spPr>
          <a:xfrm>
            <a:off x="3143250" y="1714500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Сүүлийн 60 секундэд нүд анисан кадрын хувь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E4CD34-8A97-4593-9732-41CEE3743DEE}"/>
              </a:ext>
            </a:extLst>
          </p:cNvPr>
          <p:cNvSpPr>
            <a:spLocks noGrp="1"/>
          </p:cNvSpPr>
          <p:nvPr/>
        </p:nvSpPr>
        <p:spPr>
          <a:xfrm>
            <a:off x="9620250" y="17145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45%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795F533-34D8-40EE-9651-1E9F972E8883}"/>
              </a:ext>
            </a:extLst>
          </p:cNvPr>
          <p:cNvSpPr>
            <a:spLocks noGrp="1"/>
          </p:cNvSpPr>
          <p:nvPr/>
        </p:nvSpPr>
        <p:spPr>
          <a:xfrm>
            <a:off x="952500" y="2162175"/>
            <a:ext cx="9525000" cy="76200"/>
          </a:xfrm>
          <a:prstGeom prst="roundRect">
            <a:avLst>
              <a:gd name="adj" fmla="val 50000"/>
            </a:avLst>
          </a:prstGeom>
          <a:solidFill>
            <a:srgbClr val="2941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A3FCF6A-A0CF-4A0C-8934-9289B1D35726}"/>
              </a:ext>
            </a:extLst>
          </p:cNvPr>
          <p:cNvSpPr>
            <a:spLocks noGrp="1"/>
          </p:cNvSpPr>
          <p:nvPr/>
        </p:nvSpPr>
        <p:spPr>
          <a:xfrm>
            <a:off x="952500" y="2162175"/>
            <a:ext cx="4286250" cy="76200"/>
          </a:xfrm>
          <a:prstGeom prst="roundRect">
            <a:avLst>
              <a:gd name="adj" fmla="val 50000"/>
            </a:avLst>
          </a:prstGeom>
          <a:solidFill>
            <a:srgbClr val="66D9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977152-CEE8-40A7-B8D4-C1E446952062}"/>
              </a:ext>
            </a:extLst>
          </p:cNvPr>
          <p:cNvSpPr>
            <a:spLocks noGrp="1"/>
          </p:cNvSpPr>
          <p:nvPr/>
        </p:nvSpPr>
        <p:spPr>
          <a:xfrm>
            <a:off x="952500" y="266700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defRPr sz="1500" b="1">
                <a:solidFill>
                  <a:srgbClr val="F5B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B84B"/>
                </a:solidFill>
                <a:latin typeface="Helvetica Neue"/>
                <a:ea typeface="Helvetica Neue"/>
                <a:cs typeface="Helvetica Neue"/>
              </a:rPr>
              <a:t>Long closure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A36B90-0331-4671-8555-1B27C947CD98}"/>
              </a:ext>
            </a:extLst>
          </p:cNvPr>
          <p:cNvSpPr>
            <a:spLocks noGrp="1"/>
          </p:cNvSpPr>
          <p:nvPr/>
        </p:nvSpPr>
        <p:spPr>
          <a:xfrm>
            <a:off x="3143250" y="2667000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Нүд 0.8 секундээс удаан хаагдах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52A5F9-66D5-46EC-9F4F-0E4B9AF775E2}"/>
              </a:ext>
            </a:extLst>
          </p:cNvPr>
          <p:cNvSpPr>
            <a:spLocks noGrp="1"/>
          </p:cNvSpPr>
          <p:nvPr/>
        </p:nvSpPr>
        <p:spPr>
          <a:xfrm>
            <a:off x="9620250" y="26670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30%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2C0E099-352D-41A0-B961-30F4802F7A61}"/>
              </a:ext>
            </a:extLst>
          </p:cNvPr>
          <p:cNvSpPr>
            <a:spLocks noGrp="1"/>
          </p:cNvSpPr>
          <p:nvPr/>
        </p:nvSpPr>
        <p:spPr>
          <a:xfrm>
            <a:off x="952500" y="3114675"/>
            <a:ext cx="9525000" cy="76200"/>
          </a:xfrm>
          <a:prstGeom prst="roundRect">
            <a:avLst>
              <a:gd name="adj" fmla="val 50000"/>
            </a:avLst>
          </a:prstGeom>
          <a:solidFill>
            <a:srgbClr val="2941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A068100-7649-4E85-9995-6F38EC31E661}"/>
              </a:ext>
            </a:extLst>
          </p:cNvPr>
          <p:cNvSpPr>
            <a:spLocks noGrp="1"/>
          </p:cNvSpPr>
          <p:nvPr/>
        </p:nvSpPr>
        <p:spPr>
          <a:xfrm>
            <a:off x="952500" y="3114675"/>
            <a:ext cx="2857500" cy="76200"/>
          </a:xfrm>
          <a:prstGeom prst="roundRect">
            <a:avLst>
              <a:gd name="adj" fmla="val 50000"/>
            </a:avLst>
          </a:prstGeom>
          <a:solidFill>
            <a:srgbClr val="F5B84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5E6806-40F3-4B74-AA26-88BA63F11B32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defRPr sz="1500" b="1">
                <a:solidFill>
                  <a:srgbClr val="F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B6B6B"/>
                </a:solidFill>
                <a:latin typeface="Helvetica Neue"/>
                <a:ea typeface="Helvetica Neue"/>
                <a:cs typeface="Helvetica Neue"/>
              </a:rPr>
              <a:t>Head nod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3009D9-7EFD-420C-837E-A40E6C646ECC}"/>
              </a:ext>
            </a:extLst>
          </p:cNvPr>
          <p:cNvSpPr>
            <a:spLocks noGrp="1"/>
          </p:cNvSpPr>
          <p:nvPr/>
        </p:nvSpPr>
        <p:spPr>
          <a:xfrm>
            <a:off x="3143250" y="3619500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60 секундэд давтагдсан толгой дохилт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04D80C-B01A-4F44-92B2-D2A8ED2AB21F}"/>
              </a:ext>
            </a:extLst>
          </p:cNvPr>
          <p:cNvSpPr>
            <a:spLocks noGrp="1"/>
          </p:cNvSpPr>
          <p:nvPr/>
        </p:nvSpPr>
        <p:spPr>
          <a:xfrm>
            <a:off x="9620250" y="36195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25%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A238B8B-C693-4D47-9E0F-507958FA21E1}"/>
              </a:ext>
            </a:extLst>
          </p:cNvPr>
          <p:cNvSpPr>
            <a:spLocks noGrp="1"/>
          </p:cNvSpPr>
          <p:nvPr/>
        </p:nvSpPr>
        <p:spPr>
          <a:xfrm>
            <a:off x="952500" y="4067175"/>
            <a:ext cx="9525000" cy="76200"/>
          </a:xfrm>
          <a:prstGeom prst="roundRect">
            <a:avLst>
              <a:gd name="adj" fmla="val 50000"/>
            </a:avLst>
          </a:prstGeom>
          <a:solidFill>
            <a:srgbClr val="2941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D9EC33F-576C-4F7E-9AFC-3E084AB21DC3}"/>
              </a:ext>
            </a:extLst>
          </p:cNvPr>
          <p:cNvSpPr>
            <a:spLocks noGrp="1"/>
          </p:cNvSpPr>
          <p:nvPr/>
        </p:nvSpPr>
        <p:spPr>
          <a:xfrm>
            <a:off x="952500" y="4067175"/>
            <a:ext cx="2381250" cy="76200"/>
          </a:xfrm>
          <a:prstGeom prst="roundRect">
            <a:avLst>
              <a:gd name="adj" fmla="val 50000"/>
            </a:avLst>
          </a:prstGeom>
          <a:solidFill>
            <a:srgbClr val="FB6B6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5D5625-019A-4A26-8811-DA9E3BF1F464}"/>
              </a:ext>
            </a:extLst>
          </p:cNvPr>
          <p:cNvSpPr>
            <a:spLocks noGrp="1"/>
          </p:cNvSpPr>
          <p:nvPr/>
        </p:nvSpPr>
        <p:spPr>
          <a:xfrm>
            <a:off x="1428750" y="50482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>
              <a:defRPr sz="1425" b="0">
                <a:solidFill>
                  <a:srgbClr val="F5B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5B84B"/>
                </a:solidFill>
                <a:latin typeface="Helvetica Neue"/>
                <a:ea typeface="Helvetica Neue"/>
                <a:cs typeface="Helvetica Neue"/>
              </a:rPr>
              <a:t>40–64  Анхаарах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326781-15A3-4311-8EAB-B408408D8815}"/>
              </a:ext>
            </a:extLst>
          </p:cNvPr>
          <p:cNvSpPr>
            <a:spLocks noGrp="1"/>
          </p:cNvSpPr>
          <p:nvPr/>
        </p:nvSpPr>
        <p:spPr>
          <a:xfrm>
            <a:off x="4572000" y="50482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>
              <a:defRPr sz="1425" b="0">
                <a:solidFill>
                  <a:srgbClr val="F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B6B6B"/>
                </a:solidFill>
                <a:latin typeface="Helvetica Neue"/>
                <a:ea typeface="Helvetica Neue"/>
                <a:cs typeface="Helvetica Neue"/>
              </a:rPr>
              <a:t>65–79  Дуут сэрэмжлүүлэг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5292B7-F5B0-43B2-800F-5D58DB029742}"/>
              </a:ext>
            </a:extLst>
          </p:cNvPr>
          <p:cNvSpPr>
            <a:spLocks noGrp="1"/>
          </p:cNvSpPr>
          <p:nvPr/>
        </p:nvSpPr>
        <p:spPr>
          <a:xfrm>
            <a:off x="8096250" y="50482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>
              <a:defRPr sz="1425" b="0">
                <a:solidFill>
                  <a:srgbClr val="F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B6B6B"/>
                </a:solidFill>
                <a:latin typeface="Helvetica Neue"/>
                <a:ea typeface="Helvetica Neue"/>
                <a:cs typeface="Helvetica Neue"/>
              </a:rPr>
              <a:t>80–100  Аюулгүй зогсож амрах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3AF678-BAC5-4895-A7DE-01E0D7C36278}"/>
              </a:ext>
            </a:extLst>
          </p:cNvPr>
          <p:cNvSpPr>
            <a:spLocks noGrp="1"/>
          </p:cNvSpPr>
          <p:nvPr/>
        </p:nvSpPr>
        <p:spPr>
          <a:xfrm>
            <a:off x="952500" y="5781675"/>
            <a:ext cx="9525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Нэг дохиогоор шийдвэр гаргахгүй. Хөдөлгөөнт цонх, smoothing, cooldown ашиглан false alarm-ыг бууруулна.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14851A-41CD-4940-B572-BF43786887D8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2941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E57667-D205-4D3F-AB8A-2D207777A562}"/>
              </a:ext>
            </a:extLst>
          </p:cNvPr>
          <p:cNvSpPr>
            <a:spLocks noGrp="1"/>
          </p:cNvSpPr>
          <p:nvPr/>
        </p:nvSpPr>
        <p:spPr>
          <a:xfrm>
            <a:off x="666750" y="6543675"/>
            <a:ext cx="4286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B40165-4A7C-475A-8C1A-0C8330A91ACA}"/>
              </a:ext>
            </a:extLst>
          </p:cNvPr>
          <p:cNvSpPr>
            <a:spLocks noGrp="1"/>
          </p:cNvSpPr>
          <p:nvPr/>
        </p:nvSpPr>
        <p:spPr>
          <a:xfrm>
            <a:off x="8858250" y="6543675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Driver fatigue detection project</a:t>
            </a:r>
          </a:p>
        </p:txBody>
      </p:sp>
    </p:spTree>
    <p:extLst>
      <p:ext uri="{BB962C8B-B14F-4D97-AF65-F5344CB8AC3E}">
        <p14:creationId xmlns:p14="http://schemas.microsoft.com/office/powerpoint/2010/main" val="1903453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4ACB97D-8DD6-4FF5-9488-674C22EF08DB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Demo ба дараагийн алхам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A431A0-A289-4D5A-B67D-C287AD8F682C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800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Танилцуулгын demo нь UI flow-г харуулж, CV integration-ийн шаардлагыг тодорхой тайлбарлана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9F667-DBBF-447D-A146-5C0787350C7C}"/>
              </a:ext>
            </a:extLst>
          </p:cNvPr>
          <p:cNvSpPr>
            <a:spLocks noGrp="1"/>
          </p:cNvSpPr>
          <p:nvPr/>
        </p:nvSpPr>
        <p:spPr>
          <a:xfrm>
            <a:off x="10144125" y="5143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FATIGUEGUARD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C935AE-6DF4-4792-B6C2-26BE1A6D92CA}"/>
              </a:ext>
            </a:extLst>
          </p:cNvPr>
          <p:cNvSpPr>
            <a:spLocks noGrp="1"/>
          </p:cNvSpPr>
          <p:nvPr/>
        </p:nvSpPr>
        <p:spPr>
          <a:xfrm>
            <a:off x="904875" y="167640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273"/>
          </a:bodyPr>
          <a:lstStyle/>
          <a:p>
            <a:pPr>
              <a:defRPr sz="165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0AC167-59DB-457F-9365-216948BF4B12}"/>
              </a:ext>
            </a:extLst>
          </p:cNvPr>
          <p:cNvSpPr>
            <a:spLocks noGrp="1"/>
          </p:cNvSpPr>
          <p:nvPr/>
        </p:nvSpPr>
        <p:spPr>
          <a:xfrm>
            <a:off x="1666875" y="16192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Demo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F51EA4-F7C2-4249-8BF7-B1AE9A054433}"/>
              </a:ext>
            </a:extLst>
          </p:cNvPr>
          <p:cNvSpPr>
            <a:spLocks noGrp="1"/>
          </p:cNvSpPr>
          <p:nvPr/>
        </p:nvSpPr>
        <p:spPr>
          <a:xfrm>
            <a:off x="4381500" y="1638300"/>
            <a:ext cx="6000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Home → Camera setup → Calibration → Driving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88523F-F55E-4935-B630-D8784777F392}"/>
              </a:ext>
            </a:extLst>
          </p:cNvPr>
          <p:cNvSpPr>
            <a:spLocks noGrp="1"/>
          </p:cNvSpPr>
          <p:nvPr/>
        </p:nvSpPr>
        <p:spPr>
          <a:xfrm>
            <a:off x="904875" y="2266950"/>
            <a:ext cx="9477375" cy="9525"/>
          </a:xfrm>
          <a:prstGeom prst="rect">
            <a:avLst/>
          </a:prstGeom>
          <a:solidFill>
            <a:srgbClr val="2941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85A07-54D5-4B43-B0D7-DE59BA26F9F9}"/>
              </a:ext>
            </a:extLst>
          </p:cNvPr>
          <p:cNvSpPr>
            <a:spLocks noGrp="1"/>
          </p:cNvSpPr>
          <p:nvPr/>
        </p:nvSpPr>
        <p:spPr>
          <a:xfrm>
            <a:off x="904875" y="2676525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273"/>
          </a:bodyPr>
          <a:lstStyle/>
          <a:p>
            <a:pPr>
              <a:defRPr sz="1650" b="1">
                <a:solidFill>
                  <a:srgbClr val="F5B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B84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FE3259-A9BE-49DC-9DA0-3D09D9FF4C3D}"/>
              </a:ext>
            </a:extLst>
          </p:cNvPr>
          <p:cNvSpPr>
            <a:spLocks noGrp="1"/>
          </p:cNvSpPr>
          <p:nvPr/>
        </p:nvSpPr>
        <p:spPr>
          <a:xfrm>
            <a:off x="1666875" y="261937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Туршилт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625305-B413-4EC2-9EF8-DF76A0243BAE}"/>
              </a:ext>
            </a:extLst>
          </p:cNvPr>
          <p:cNvSpPr>
            <a:spLocks noGrp="1"/>
          </p:cNvSpPr>
          <p:nvPr/>
        </p:nvSpPr>
        <p:spPr>
          <a:xfrm>
            <a:off x="4381500" y="2638425"/>
            <a:ext cx="6000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Гэрэлтүүлэг, утасны байрлал, нүүрний өнцөг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0CAFC9-A2BA-4C4C-A668-CA19410FA5B4}"/>
              </a:ext>
            </a:extLst>
          </p:cNvPr>
          <p:cNvSpPr>
            <a:spLocks noGrp="1"/>
          </p:cNvSpPr>
          <p:nvPr/>
        </p:nvSpPr>
        <p:spPr>
          <a:xfrm>
            <a:off x="904875" y="3267075"/>
            <a:ext cx="9477375" cy="9525"/>
          </a:xfrm>
          <a:prstGeom prst="rect">
            <a:avLst/>
          </a:prstGeom>
          <a:solidFill>
            <a:srgbClr val="2941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AE830F-9F62-44FB-8830-BEAD9368C37B}"/>
              </a:ext>
            </a:extLst>
          </p:cNvPr>
          <p:cNvSpPr>
            <a:spLocks noGrp="1"/>
          </p:cNvSpPr>
          <p:nvPr/>
        </p:nvSpPr>
        <p:spPr>
          <a:xfrm>
            <a:off x="904875" y="36766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273"/>
          </a:bodyPr>
          <a:lstStyle/>
          <a:p>
            <a:pPr>
              <a:defRPr sz="1650" b="1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72E0E3-53E6-47FC-8239-F798DEA18E8A}"/>
              </a:ext>
            </a:extLst>
          </p:cNvPr>
          <p:cNvSpPr>
            <a:spLocks noGrp="1"/>
          </p:cNvSpPr>
          <p:nvPr/>
        </p:nvSpPr>
        <p:spPr>
          <a:xfrm>
            <a:off x="1666875" y="36195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Integration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4E1CA-9AD6-43B3-947D-50C4B882241C}"/>
              </a:ext>
            </a:extLst>
          </p:cNvPr>
          <p:cNvSpPr>
            <a:spLocks noGrp="1"/>
          </p:cNvSpPr>
          <p:nvPr/>
        </p:nvSpPr>
        <p:spPr>
          <a:xfrm>
            <a:off x="4381500" y="3638550"/>
            <a:ext cx="6000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Face detector, score engine, siren, RAG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C224F5-DFAC-4F9F-B567-BDCBC4523955}"/>
              </a:ext>
            </a:extLst>
          </p:cNvPr>
          <p:cNvSpPr>
            <a:spLocks noGrp="1"/>
          </p:cNvSpPr>
          <p:nvPr/>
        </p:nvSpPr>
        <p:spPr>
          <a:xfrm>
            <a:off x="904875" y="4267200"/>
            <a:ext cx="9477375" cy="9525"/>
          </a:xfrm>
          <a:prstGeom prst="rect">
            <a:avLst/>
          </a:prstGeom>
          <a:solidFill>
            <a:srgbClr val="2941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237AED-4A21-40E8-9ED2-DC50074C2FED}"/>
              </a:ext>
            </a:extLst>
          </p:cNvPr>
          <p:cNvSpPr>
            <a:spLocks noGrp="1"/>
          </p:cNvSpPr>
          <p:nvPr/>
        </p:nvSpPr>
        <p:spPr>
          <a:xfrm>
            <a:off x="904875" y="4676775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273"/>
          </a:bodyPr>
          <a:lstStyle/>
          <a:p>
            <a:pPr>
              <a:defRPr sz="1650" b="1">
                <a:solidFill>
                  <a:srgbClr val="46D3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6D38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F32701-D089-4347-B964-43BECEB512D8}"/>
              </a:ext>
            </a:extLst>
          </p:cNvPr>
          <p:cNvSpPr>
            <a:spLocks noGrp="1"/>
          </p:cNvSpPr>
          <p:nvPr/>
        </p:nvSpPr>
        <p:spPr>
          <a:xfrm>
            <a:off x="1666875" y="461962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96B807-D6A6-49F5-9272-3EE6A10D2014}"/>
              </a:ext>
            </a:extLst>
          </p:cNvPr>
          <p:cNvSpPr>
            <a:spLocks noGrp="1"/>
          </p:cNvSpPr>
          <p:nvPr/>
        </p:nvSpPr>
        <p:spPr>
          <a:xfrm>
            <a:off x="4381500" y="4638675"/>
            <a:ext cx="6000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91"/>
          </a:bodyPr>
          <a:lstStyle/>
          <a:p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False alarm болон missed detection-ийг бодит жолоодлогын нөхцөлд хэмжих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C605C9-EE09-409C-8526-DF2F68287844}"/>
              </a:ext>
            </a:extLst>
          </p:cNvPr>
          <p:cNvSpPr>
            <a:spLocks noGrp="1"/>
          </p:cNvSpPr>
          <p:nvPr/>
        </p:nvSpPr>
        <p:spPr>
          <a:xfrm>
            <a:off x="904875" y="5267325"/>
            <a:ext cx="9477375" cy="9525"/>
          </a:xfrm>
          <a:prstGeom prst="rect">
            <a:avLst/>
          </a:prstGeom>
          <a:solidFill>
            <a:srgbClr val="2941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48B6CA-E04D-4688-A2B9-F47046512C48}"/>
              </a:ext>
            </a:extLst>
          </p:cNvPr>
          <p:cNvSpPr>
            <a:spLocks noGrp="1"/>
          </p:cNvSpPr>
          <p:nvPr/>
        </p:nvSpPr>
        <p:spPr>
          <a:xfrm>
            <a:off x="666750" y="598170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375"/>
          </a:bodyPr>
          <a:lstStyle/>
          <a:p>
            <a:pPr>
              <a:defRPr sz="24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Асуулт, санал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52B0D5-082E-4BDC-91E3-CA683206D079}"/>
              </a:ext>
            </a:extLst>
          </p:cNvPr>
          <p:cNvSpPr>
            <a:spLocks noGrp="1"/>
          </p:cNvSpPr>
          <p:nvPr/>
        </p:nvSpPr>
        <p:spPr>
          <a:xfrm>
            <a:off x="9286875" y="6057900"/>
            <a:ext cx="2190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926"/>
          </a:bodyPr>
          <a:lstStyle/>
          <a:p>
            <a:pPr>
              <a:defRPr sz="13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Баярлалаа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82113B-0D0F-4F14-A423-421671748BFB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2941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17701A-684C-458B-9EE6-260F2F7D1212}"/>
              </a:ext>
            </a:extLst>
          </p:cNvPr>
          <p:cNvSpPr>
            <a:spLocks noGrp="1"/>
          </p:cNvSpPr>
          <p:nvPr/>
        </p:nvSpPr>
        <p:spPr>
          <a:xfrm>
            <a:off x="666750" y="6543675"/>
            <a:ext cx="4286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AB17FF-7176-4A21-B478-CE0CBBE80F60}"/>
              </a:ext>
            </a:extLst>
          </p:cNvPr>
          <p:cNvSpPr>
            <a:spLocks noGrp="1"/>
          </p:cNvSpPr>
          <p:nvPr/>
        </p:nvSpPr>
        <p:spPr>
          <a:xfrm>
            <a:off x="8858250" y="6543675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Driver fatigue detection project</a:t>
            </a:r>
          </a:p>
        </p:txBody>
      </p:sp>
    </p:spTree>
    <p:extLst>
      <p:ext uri="{BB962C8B-B14F-4D97-AF65-F5344CB8AC3E}">
        <p14:creationId xmlns:p14="http://schemas.microsoft.com/office/powerpoint/2010/main" val="12915381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Microsoft Macintosh PowerPoint</Application>
  <DocSecurity>0</DocSecurity>
  <PresentationFormat>Widescreen</PresentationFormat>
  <Paragraphs>147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Ганзориг Номин</cp:lastModifiedBy>
  <cp:revision>1</cp:revision>
  <dcterms:created xsi:type="dcterms:W3CDTF">2026-09-17T14:59:27Z</dcterms:created>
  <dcterms:modified xsi:type="dcterms:W3CDTF">2026-09-17T15:09:34Z</dcterms:modified>
</cp:coreProperties>
</file>